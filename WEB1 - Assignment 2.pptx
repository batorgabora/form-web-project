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7" r:id="rId3"/>
    <p:sldId id="258" r:id="rId4"/>
    <p:sldId id="262" r:id="rId5"/>
    <p:sldId id="264" r:id="rId6"/>
    <p:sldId id="265" r:id="rId7"/>
    <p:sldId id="266" r:id="rId8"/>
    <p:sldId id="267" r:id="rId9"/>
    <p:sldId id="272" r:id="rId10"/>
    <p:sldId id="270" r:id="rId11"/>
    <p:sldId id="271" r:id="rId1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22B36D-671A-41F8-8C87-F0469C4578A5}" v="6" dt="2025-10-22T19:56:46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e Lindhardt Egsgaard" userId="0y7hcFgyRd1x2MR5l6e39dhuR1pC83EnjPdO+Vca6nQ=" providerId="None" clId="Web-{7522B36D-671A-41F8-8C87-F0469C4578A5}"/>
    <pc:docChg chg="modSld">
      <pc:chgData name="Line Lindhardt Egsgaard" userId="0y7hcFgyRd1x2MR5l6e39dhuR1pC83EnjPdO+Vca6nQ=" providerId="None" clId="Web-{7522B36D-671A-41F8-8C87-F0469C4578A5}" dt="2025-10-22T19:56:46.044" v="3"/>
      <pc:docMkLst>
        <pc:docMk/>
      </pc:docMkLst>
      <pc:sldChg chg="delSp modSp">
        <pc:chgData name="Line Lindhardt Egsgaard" userId="0y7hcFgyRd1x2MR5l6e39dhuR1pC83EnjPdO+Vca6nQ=" providerId="None" clId="Web-{7522B36D-671A-41F8-8C87-F0469C4578A5}" dt="2025-10-22T19:56:46.044" v="3"/>
        <pc:sldMkLst>
          <pc:docMk/>
          <pc:sldMk cId="1452169684" sldId="270"/>
        </pc:sldMkLst>
        <pc:spChg chg="del mod">
          <ac:chgData name="Line Lindhardt Egsgaard" userId="0y7hcFgyRd1x2MR5l6e39dhuR1pC83EnjPdO+Vca6nQ=" providerId="None" clId="Web-{7522B36D-671A-41F8-8C87-F0469C4578A5}" dt="2025-10-22T19:56:44.294" v="2"/>
          <ac:spMkLst>
            <pc:docMk/>
            <pc:sldMk cId="1452169684" sldId="270"/>
            <ac:spMk id="3" creationId="{00000000-0000-0000-0000-000000000000}"/>
          </ac:spMkLst>
        </pc:spChg>
        <pc:spChg chg="del">
          <ac:chgData name="Line Lindhardt Egsgaard" userId="0y7hcFgyRd1x2MR5l6e39dhuR1pC83EnjPdO+Vca6nQ=" providerId="None" clId="Web-{7522B36D-671A-41F8-8C87-F0469C4578A5}" dt="2025-10-22T19:56:46.044" v="3"/>
          <ac:spMkLst>
            <pc:docMk/>
            <pc:sldMk cId="1452169684" sldId="270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55AB-697B-4D49-BFE3-8BC0349DC5A5}" type="datetimeFigureOut">
              <a:rPr lang="da-DK" smtClean="0"/>
              <a:t>22-10-2025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CD8EB-E4CD-4728-A2BB-78D3D25AD3D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5512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00183A-898A-47CA-ACA5-7AAC5C5D8973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63990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A935E4-DCA2-6510-C08F-90ACB0258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7A56CF9B-EC33-F5FD-9EA4-9F3A2646A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81C6C9D-1FC3-92EF-63EA-915D7F4A9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2311-5586-48EB-BC0D-90FD119A64E9}" type="datetimeFigureOut">
              <a:rPr lang="da-DK" smtClean="0"/>
              <a:t>22-10-2025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0785BA2-DF30-5882-1EAB-E59EFB5FF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BC1B4A6-D7FD-8A24-D005-863707EC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ECE-0ABF-4C1A-9ADE-55D2D7CF5F2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204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9A0209-627E-56AA-9C18-55DA63B6A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8FBA5AA-EE59-E49F-E965-A8D3A5B9A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BF7DF2C-3062-DCD8-F153-34D0DF7A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2311-5586-48EB-BC0D-90FD119A64E9}" type="datetimeFigureOut">
              <a:rPr lang="da-DK" smtClean="0"/>
              <a:t>22-10-2025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2BE7E70-8473-5580-C9B8-99A34D93F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510B5B2-3681-63F1-6611-2BFD32BE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ECE-0ABF-4C1A-9ADE-55D2D7CF5F2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36574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D8B41C-EF5F-CF84-B691-50DC800FE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84FBCEF-64B1-A17F-48B6-348AEE8A3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5A5D1B9-954C-4DBD-5D98-7D8D45DF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2311-5586-48EB-BC0D-90FD119A64E9}" type="datetimeFigureOut">
              <a:rPr lang="da-DK" smtClean="0"/>
              <a:t>22-10-2025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FC5DBBF-C398-4C20-BBA0-B5F42938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6301E07-F7A5-6803-26DA-5AB5174B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ECE-0ABF-4C1A-9ADE-55D2D7CF5F2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5455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10FB91-C914-E0B1-FC58-E953B491C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7168ED6-E725-938A-282C-95CE09CA3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1FFBC908-D338-9A6B-6111-771667426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0ACC58D-3611-22BE-31F7-43D3CA0E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2311-5586-48EB-BC0D-90FD119A64E9}" type="datetimeFigureOut">
              <a:rPr lang="da-DK" smtClean="0"/>
              <a:t>22-10-2025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1879C0A-AC70-179C-28F6-34BC957CE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3957807-40C3-E5DB-E5B8-63396E24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ECE-0ABF-4C1A-9ADE-55D2D7CF5F2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36726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536C01-6F7B-8680-7BE5-6639E2A4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DF39C2DC-14BD-B701-C58F-427C31623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FA44AC1-2D80-B044-483E-6DD59176B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4E211860-670F-CC48-A12C-3A1E563FF0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A924EAE9-BDCB-D166-9AFD-BB6E56F9B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BE161858-315F-E79D-BBE6-E47441354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2311-5586-48EB-BC0D-90FD119A64E9}" type="datetimeFigureOut">
              <a:rPr lang="da-DK" smtClean="0"/>
              <a:t>22-10-2025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01B1DB99-FAF9-3D0F-5C9A-A95824FD4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7AC4EC6C-2D18-51D0-CF6C-1180E9292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ECE-0ABF-4C1A-9ADE-55D2D7CF5F2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1175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B720D6-3B09-AE7F-BFAE-6739D76FA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9B793AA-6643-DCF3-4D87-4FC5F25C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2311-5586-48EB-BC0D-90FD119A64E9}" type="datetimeFigureOut">
              <a:rPr lang="da-DK" smtClean="0"/>
              <a:t>22-10-2025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0BD83CB-C639-16AE-641D-17CD0E80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9EA9A1E-E6EE-BFB0-F630-C0E4BAC1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ECE-0ABF-4C1A-9ADE-55D2D7CF5F2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507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E11493C5-0A65-5ADA-CD12-251BEE9CA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2311-5586-48EB-BC0D-90FD119A64E9}" type="datetimeFigureOut">
              <a:rPr lang="da-DK" smtClean="0"/>
              <a:t>22-10-2025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024C16FE-6EF2-975F-4275-3CC074BB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2468A62-ABE2-344A-76C3-5AC03592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ECE-0ABF-4C1A-9ADE-55D2D7CF5F2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85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3F4B3D-5895-4EE0-A1E9-C439648ED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0AD3546-F9AB-C7C5-EB01-05733645C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BFEF38F-5757-674A-20A9-464BAC57C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E242DC4-FDEC-54DD-746B-29467EC03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2311-5586-48EB-BC0D-90FD119A64E9}" type="datetimeFigureOut">
              <a:rPr lang="da-DK" smtClean="0"/>
              <a:t>22-10-2025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BBD0B26-68A1-2E6E-9C48-2FB69158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2D5CD97-6CC6-F02B-99F2-12A08140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ECE-0ABF-4C1A-9ADE-55D2D7CF5F2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757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08E36F-AFEF-46ED-C331-5C6184811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51C43C52-D097-0F0A-D5A7-AF75FC7D2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4D06468-660A-04EE-8A84-B8463CD4C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E045670-366E-AC46-5DFD-EB742C4A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2311-5586-48EB-BC0D-90FD119A64E9}" type="datetimeFigureOut">
              <a:rPr lang="da-DK" smtClean="0"/>
              <a:t>22-10-2025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DA62194-3C1C-AAC7-B211-96D486348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ED27486-2C18-8DFF-6868-8A639601C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ECE-0ABF-4C1A-9ADE-55D2D7CF5F2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0931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6D4E1D-2805-299A-5CF0-492F9A754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8CD89616-AC71-E6AA-328F-A1C713FE6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6BA24A2-59B9-8555-C1AF-20C15F0EC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2311-5586-48EB-BC0D-90FD119A64E9}" type="datetimeFigureOut">
              <a:rPr lang="da-DK" smtClean="0"/>
              <a:t>22-10-2025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2B51F9D-BBBE-19D3-A729-8A12E760B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4C9A471-8DF2-8620-73A1-BDF4A2F7D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ECE-0ABF-4C1A-9ADE-55D2D7CF5F2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07166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B19DBFB-1A33-BEC0-0554-C28280815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4489E41-C472-A367-363A-5BB5E14E5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4D528E2-9C90-A759-8120-370AE346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12311-5586-48EB-BC0D-90FD119A64E9}" type="datetimeFigureOut">
              <a:rPr lang="da-DK" smtClean="0"/>
              <a:t>22-10-2025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ECA26F9-1F0F-88FF-405C-9E212B619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67C01AA-04CD-BBE3-3125-C60121E6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CEECE-0ABF-4C1A-9ADE-55D2D7CF5F2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2898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26CB6-B1A2-41C7-AFE3-D5A04DF47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0DA8A-110B-4926-B873-55810B74E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C45B-4735-47A8-9ED5-8B01068F6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AB93F-02EE-4D32-A5F1-DF1100E75508}" type="datetime1">
              <a:rPr lang="en-US" smtClean="0"/>
              <a:t>10/22/2025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54866-B29C-4A27-935B-D034FDB30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Responsive Web Design  -  Asbjørn Thalund Binderup, asbi@via.dk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4DB11-A3A8-45E7-96A7-EF234C9D1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D9D0-193D-4A12-8072-D03F478AAF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55361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928CB-5C5D-4829-95A8-1980C033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94460-D986-4ED5-A9C0-87FA65321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62FE1-C6CF-4AE2-85C5-DF4706725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899C-074A-4501-983A-FF21ED4574BC}" type="datetime1">
              <a:rPr lang="en-US" smtClean="0"/>
              <a:t>10/22/2025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5FED7-CD81-4877-BB58-4FAB00D1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Responsive Web Design  -  Asbjørn Thalund Binderup, asbi@via.dk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A374B-82A9-48E7-AF4E-C1DAE680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D9D0-193D-4A12-8072-D03F478AAF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160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65BF-DAD2-4EFA-83F1-7BE8A4280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B1A21-E37E-4B9C-B4D8-5DB2C0D09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AD724-72CB-476F-8F16-EF4BA389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FB07E-A1B0-43FA-BD0B-232B361B3555}" type="datetime1">
              <a:rPr lang="en-US" smtClean="0"/>
              <a:t>10/22/2025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B9C74-EBC6-4665-9541-259DCEF8E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Responsive Web Design  -  Asbjørn Thalund Binderup, asbi@via.dk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19597-34A3-4AEE-AFC5-9ED8A90E2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D9D0-193D-4A12-8072-D03F478AAF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6746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7C1B6-C497-4AFB-9A19-15A5027B8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C1149-E88E-4771-B085-45F427E2A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80D8E-DE09-46F9-ADD6-E846FB7B1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B87E9-E792-47F3-9795-37BC7E6F2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16E1-2780-4BBA-8B49-CAD65B32A54A}" type="datetime1">
              <a:rPr lang="en-US" smtClean="0"/>
              <a:t>10/22/2025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D523E-8A1E-41D2-9D9B-291338E79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Responsive Web Design  -  Asbjørn Thalund Binderup, asbi@via.dk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55F7D-2937-4E4B-9345-560B935CD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D9D0-193D-4A12-8072-D03F478AAF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2104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709CA-474D-45EC-93DA-1DE757A2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34956-E07F-49D5-A957-BB4E10F73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2376D-0FF0-41FA-A878-EA1AB2887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DD94A4-FE96-40D7-93E1-56280D3D0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289C9-0AC8-4D1D-A86B-D89AA0A58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FE276E-1EE7-4E27-BE27-ECB48DB4A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11A6-007D-40A5-8EF5-B326DC40BF84}" type="datetime1">
              <a:rPr lang="en-US" smtClean="0"/>
              <a:t>10/22/2025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7F525-828A-4200-80DA-4E656022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Responsive Web Design  -  Asbjørn Thalund Binderup, asbi@via.dk</a:t>
            </a:r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DFE4DD-72C7-4213-A6BD-27D32D8A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D9D0-193D-4A12-8072-D03F478AAF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9054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AB566-22BB-4F4E-B6B0-E9958C05B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2901C1-1512-445B-B303-2970DA349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082F-2135-46ED-9AFD-CC68E052E94B}" type="datetime1">
              <a:rPr lang="en-US" smtClean="0"/>
              <a:t>10/22/2025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B81AA-301A-44DE-AAF1-56B86FD38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Responsive Web Design  -  Asbjørn Thalund Binderup, asbi@via.dk</a:t>
            </a:r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D4C39-E5E8-4C4D-9121-AF44E14F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D9D0-193D-4A12-8072-D03F478AAF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76465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0D3CDB-0FD4-443F-9BDF-27E6D322D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404B0-86E6-4326-B01F-A086E80308DF}" type="datetime1">
              <a:rPr lang="en-US" smtClean="0"/>
              <a:t>10/22/2025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4037F-FF8E-4B07-9441-6C7BFD51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Responsive Web Design  -  Asbjørn Thalund Binderup, asbi@via.dk</a:t>
            </a:r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E5C70-D0C5-4B01-A000-C010A95C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D9D0-193D-4A12-8072-D03F478AAF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01067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D1FFF-B533-49DA-9B96-1196F4308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C4E01-3B4E-4EF4-B1BF-032C2BCC1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BD4DD-7C5E-4693-BAC8-9D8C5F961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CCA03-694C-4003-94D8-553A3C6C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2FB83-B2EA-4A6A-B361-A50F94B17F68}" type="datetime1">
              <a:rPr lang="en-US" smtClean="0"/>
              <a:t>10/22/2025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3FD88-685E-4A07-B2B9-70B7068BF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Responsive Web Design  -  Asbjørn Thalund Binderup, asbi@via.dk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9F0AA-B9D5-432A-91FD-E8A681A2C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D9D0-193D-4A12-8072-D03F478AAF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7416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B55EB-0461-477D-A9F4-DA9F74BB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EDEE6-1767-4EFE-B7AC-A7ABBBCA0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C0C46-F88B-454D-98F9-E634A6881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35792-35C8-4976-B000-48506FB0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40B2-43D6-4FC6-8ED9-70F516B70B6E}" type="datetime1">
              <a:rPr lang="en-US" smtClean="0"/>
              <a:t>10/22/2025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F20B1-AAA1-4567-8903-F29344751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Responsive Web Design  -  Asbjørn Thalund Binderup, asbi@via.dk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07BD9-587D-452A-A3C8-1F02884E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D9D0-193D-4A12-8072-D03F478AAF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99509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10EC0-B68D-4B3C-BEBA-142428B9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737A7-6195-4229-B47F-C6B77F8E9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A5535-FE24-4247-8DF7-8C9BB1A8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EAD57-A59C-457B-AF8B-D651FD9892F3}" type="datetime1">
              <a:rPr lang="en-US" smtClean="0"/>
              <a:t>10/22/2025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922E9-3CC5-4C66-B64B-BA64FED91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Responsive Web Design  -  Asbjørn Thalund Binderup, asbi@via.dk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0F884-B83A-42C0-A7FF-D6C8A556A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D9D0-193D-4A12-8072-D03F478AAF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25768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B9ECB7-18B5-4894-9FC9-D8C0BB4A43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73BD7-AC65-494A-AA59-0D7A0F9D0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F15F2-D28D-42CA-B058-A1F271C9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F336-E99A-485A-9F66-E3F8C99C5EE8}" type="datetime1">
              <a:rPr lang="en-US" smtClean="0"/>
              <a:t>10/22/2025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2EC6F-572E-4189-A46A-3DDF7F76C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 to Responsive Web Design  -  Asbjørn Thalund Binderup, asbi@via.dk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D9DA6-577A-4A93-B80A-910B516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6D9D0-193D-4A12-8072-D03F478AAF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78164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holdsside II - pun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VIA Type Office Light" panose="02000503000000020004" pitchFamily="2" charset="0"/>
              </a:defRPr>
            </a:lvl1pPr>
          </a:lstStyle>
          <a:p>
            <a:r>
              <a:rPr lang="da-DK" dirty="0"/>
              <a:t>Overskrift i maksimalt to linjer</a:t>
            </a:r>
          </a:p>
        </p:txBody>
      </p:sp>
      <p:sp>
        <p:nvSpPr>
          <p:cNvPr id="8" name="Pladsholder til tekst 7"/>
          <p:cNvSpPr>
            <a:spLocks noGrp="1"/>
          </p:cNvSpPr>
          <p:nvPr>
            <p:ph type="body" sz="quarter" idx="13"/>
          </p:nvPr>
        </p:nvSpPr>
        <p:spPr>
          <a:xfrm>
            <a:off x="593601" y="1628801"/>
            <a:ext cx="10830049" cy="4536503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Bef>
                <a:spcPts val="600"/>
              </a:spcBef>
              <a:defRPr sz="2500" spc="-90" baseline="0"/>
            </a:lvl1pPr>
            <a:lvl2pPr marL="903600">
              <a:lnSpc>
                <a:spcPct val="80000"/>
              </a:lnSpc>
              <a:defRPr sz="2500" spc="-90" baseline="0"/>
            </a:lvl2pPr>
            <a:lvl3pPr marL="1364400">
              <a:lnSpc>
                <a:spcPct val="80000"/>
              </a:lnSpc>
              <a:defRPr sz="2500" spc="-90"/>
            </a:lvl3pPr>
            <a:lvl4pPr marL="1821600">
              <a:lnSpc>
                <a:spcPct val="80000"/>
              </a:lnSpc>
              <a:defRPr sz="2500" spc="-90"/>
            </a:lvl4pPr>
            <a:lvl5pPr marL="1821600">
              <a:lnSpc>
                <a:spcPct val="80000"/>
              </a:lnSpc>
              <a:defRPr sz="2500" spc="-9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FB61E1D-0863-439A-875F-48C6310B655B}" type="datetime1">
              <a:rPr lang="en-US" smtClean="0"/>
              <a:t>10/22/2025</a:t>
            </a:fld>
            <a:endParaRPr lang="da-DK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Intro to Responsive Web Design  -  Asbjørn Thalund Binderup, asbi@via.dk</a:t>
            </a:r>
            <a:endParaRPr lang="da-DK" dirty="0">
              <a:latin typeface="VIA Type Office Light" panose="02000503000000020004" pitchFamily="2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D028174-2F5C-4566-855F-0E8F5DD7129F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35262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8FC8113-35C4-741C-3D88-DDF81E7C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3BFA79C-FA33-014E-1BA4-1DDC37862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D5FCE31-A333-7519-DC40-6CD24735D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12311-5586-48EB-BC0D-90FD119A64E9}" type="datetimeFigureOut">
              <a:rPr lang="da-DK" smtClean="0"/>
              <a:t>22-10-2025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3AA3A16-8012-64A5-7170-497CACCCA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CF1B3D8-E3E6-B814-0232-EC6C37870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CEECE-0ABF-4C1A-9ADE-55D2D7CF5F2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79823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7D1884-1C2E-4E97-980F-48B840C3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914C9-440B-4377-A045-3B1CAD9F3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78CA0-89D8-4BBC-BD48-682DD0F90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DE932-442F-43E2-AF9F-689F4A448944}" type="datetime1">
              <a:rPr lang="en-US" smtClean="0"/>
              <a:t>10/22/2025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D973C-2EA1-417C-94F1-82D6584F1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Intro to Responsive Web Design  -  Asbjørn Thalund Binderup, asbi@via.dk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85B20-3441-432C-B24A-A4F6EB468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6D9D0-193D-4A12-8072-D03F478AAF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0656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nngroup.com/articles/ten-usability-heuristics/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alsamiq.com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81554-7987-487D-B805-D54D85632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625543"/>
            <a:ext cx="9144000" cy="970317"/>
          </a:xfrm>
        </p:spPr>
        <p:txBody>
          <a:bodyPr/>
          <a:lstStyle/>
          <a:p>
            <a:r>
              <a:rPr lang="en-US" dirty="0"/>
              <a:t>Web Development 1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7C7EF-0094-4D1F-B403-E18751390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687936"/>
            <a:ext cx="9144000" cy="970317"/>
          </a:xfrm>
        </p:spPr>
        <p:txBody>
          <a:bodyPr/>
          <a:lstStyle/>
          <a:p>
            <a:r>
              <a:rPr lang="en-US" dirty="0"/>
              <a:t>Software Technology Engineering - 1. Semester</a:t>
            </a:r>
          </a:p>
          <a:p>
            <a:r>
              <a:rPr lang="en-US" dirty="0"/>
              <a:t>VIA University College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7CFCE-02CE-4FA4-9474-08638329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7" t="19924" r="6689" b="22564"/>
          <a:stretch/>
        </p:blipFill>
        <p:spPr>
          <a:xfrm>
            <a:off x="2633708" y="199747"/>
            <a:ext cx="6924583" cy="455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66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E4F851-A4A5-FFB1-304B-22A11B31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Midterm</a:t>
            </a:r>
            <a:r>
              <a:rPr lang="da-DK" dirty="0"/>
              <a:t> </a:t>
            </a:r>
            <a:r>
              <a:rPr lang="da-DK" dirty="0" err="1"/>
              <a:t>evaluation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AF102F3-A29E-BEBC-F900-052672337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a-DK" sz="3200" b="1" dirty="0"/>
              <a:t>Please </a:t>
            </a:r>
            <a:r>
              <a:rPr lang="da-DK" sz="3200" b="1" dirty="0" err="1"/>
              <a:t>fill</a:t>
            </a:r>
            <a:r>
              <a:rPr lang="da-DK" sz="3200" b="1" dirty="0"/>
              <a:t> in the </a:t>
            </a:r>
            <a:r>
              <a:rPr lang="da-DK" sz="3200" b="1" dirty="0" err="1"/>
              <a:t>midterm</a:t>
            </a:r>
            <a:r>
              <a:rPr lang="da-DK" sz="3200" b="1" dirty="0"/>
              <a:t> </a:t>
            </a:r>
            <a:r>
              <a:rPr lang="da-DK" sz="3200" b="1" dirty="0" err="1"/>
              <a:t>evaluation</a:t>
            </a:r>
            <a:r>
              <a:rPr lang="da-DK" sz="3200" b="1" dirty="0"/>
              <a:t> on </a:t>
            </a:r>
            <a:r>
              <a:rPr lang="da-DK" sz="3200" b="1" dirty="0" err="1"/>
              <a:t>itslearning</a:t>
            </a:r>
            <a:endParaRPr lang="da-DK" sz="3200" b="1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916017DD-2AAA-998E-3168-718221E0B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5" y="2938309"/>
            <a:ext cx="6000750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47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Working</a:t>
            </a:r>
            <a:r>
              <a:rPr lang="da-DK" dirty="0"/>
              <a:t> on </a:t>
            </a:r>
            <a:r>
              <a:rPr lang="da-DK" dirty="0" err="1"/>
              <a:t>Assignment</a:t>
            </a:r>
            <a:r>
              <a:rPr lang="da-DK" dirty="0"/>
              <a:t> 2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second out of three assignments that are part of your exam in WEB1</a:t>
            </a:r>
          </a:p>
          <a:p>
            <a:r>
              <a:rPr lang="en-US" dirty="0"/>
              <a:t>This assignment is a group assignment</a:t>
            </a:r>
          </a:p>
          <a:p>
            <a:r>
              <a:rPr lang="en-US" dirty="0"/>
              <a:t>If you want feedback, then submit before the deadline!</a:t>
            </a:r>
          </a:p>
          <a:p>
            <a:endParaRPr lang="en-US" dirty="0"/>
          </a:p>
          <a:p>
            <a:r>
              <a:rPr lang="en-US" dirty="0"/>
              <a:t>Assignment 2</a:t>
            </a:r>
          </a:p>
          <a:p>
            <a:pPr lvl="1"/>
            <a:r>
              <a:rPr lang="en-US" dirty="0"/>
              <a:t>You have 4 hours today</a:t>
            </a:r>
          </a:p>
          <a:p>
            <a:pPr lvl="1"/>
            <a:r>
              <a:rPr lang="en-US" dirty="0"/>
              <a:t>Two weeks to complete the assignment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Make sure to ask a lot of questions today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999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F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BF4D6-762A-453D-9F16-D473C33CD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chemeClr val="bg1"/>
                </a:solidFill>
              </a:rPr>
              <a:t>The </a:t>
            </a:r>
            <a:r>
              <a:rPr lang="da-DK" dirty="0" err="1">
                <a:solidFill>
                  <a:schemeClr val="bg1"/>
                </a:solidFill>
              </a:rPr>
              <a:t>rules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B01F142-BB9B-4BD2-9921-C3FA2B6BC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Only HTML and CSS!</a:t>
            </a:r>
          </a:p>
          <a:p>
            <a:r>
              <a:rPr lang="en-US" dirty="0">
                <a:solidFill>
                  <a:schemeClr val="bg1"/>
                </a:solidFill>
              </a:rPr>
              <a:t>Don’t just download something cool</a:t>
            </a:r>
          </a:p>
          <a:p>
            <a:r>
              <a:rPr lang="en-US" dirty="0">
                <a:solidFill>
                  <a:schemeClr val="bg1"/>
                </a:solidFill>
              </a:rPr>
              <a:t>Understand what you do</a:t>
            </a:r>
          </a:p>
          <a:p>
            <a:r>
              <a:rPr lang="en-US" dirty="0">
                <a:solidFill>
                  <a:schemeClr val="bg1"/>
                </a:solidFill>
              </a:rPr>
              <a:t>No frameworks</a:t>
            </a:r>
          </a:p>
          <a:p>
            <a:r>
              <a:rPr lang="en-US" dirty="0">
                <a:solidFill>
                  <a:schemeClr val="bg1"/>
                </a:solidFill>
              </a:rPr>
              <a:t>No in-line styling allowed</a:t>
            </a:r>
          </a:p>
          <a:p>
            <a:endParaRPr lang="da-DK" dirty="0"/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9128DCB6-A036-4DE0-8047-81D804779B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38" t="6760" r="55104" b="45648"/>
          <a:stretch/>
        </p:blipFill>
        <p:spPr>
          <a:xfrm>
            <a:off x="6960096" y="2089836"/>
            <a:ext cx="4502330" cy="4162227"/>
          </a:xfrm>
          <a:prstGeom prst="rect">
            <a:avLst/>
          </a:prstGeom>
        </p:spPr>
      </p:pic>
      <p:grpSp>
        <p:nvGrpSpPr>
          <p:cNvPr id="5" name="Group 16">
            <a:extLst>
              <a:ext uri="{FF2B5EF4-FFF2-40B4-BE49-F238E27FC236}">
                <a16:creationId xmlns:a16="http://schemas.microsoft.com/office/drawing/2014/main" id="{29A1F1EE-0D6B-4EC5-B63B-9F7325768064}"/>
              </a:ext>
            </a:extLst>
          </p:cNvPr>
          <p:cNvGrpSpPr/>
          <p:nvPr/>
        </p:nvGrpSpPr>
        <p:grpSpPr>
          <a:xfrm>
            <a:off x="8020636" y="360851"/>
            <a:ext cx="2381249" cy="1360487"/>
            <a:chOff x="4038600" y="285750"/>
            <a:chExt cx="2381249" cy="1360487"/>
          </a:xfrm>
        </p:grpSpPr>
        <p:pic>
          <p:nvPicPr>
            <p:cNvPr id="6" name="Picture 2" descr="Billedresultat for html css png">
              <a:extLst>
                <a:ext uri="{FF2B5EF4-FFF2-40B4-BE49-F238E27FC236}">
                  <a16:creationId xmlns:a16="http://schemas.microsoft.com/office/drawing/2014/main" id="{0FB7C5B5-EF43-49F2-BC53-FC895AA488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58"/>
            <a:stretch/>
          </p:blipFill>
          <p:spPr bwMode="auto">
            <a:xfrm>
              <a:off x="4038600" y="496388"/>
              <a:ext cx="2381249" cy="1149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Billedresultat for html css png">
              <a:extLst>
                <a:ext uri="{FF2B5EF4-FFF2-40B4-BE49-F238E27FC236}">
                  <a16:creationId xmlns:a16="http://schemas.microsoft.com/office/drawing/2014/main" id="{8FE178FB-9E05-4333-A583-1DFF47FD25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2425"/>
            <a:stretch/>
          </p:blipFill>
          <p:spPr bwMode="auto">
            <a:xfrm>
              <a:off x="4038600" y="285750"/>
              <a:ext cx="2381249" cy="2418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2758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AC16A226-3818-4F38-AB6F-18A8BF56E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4" y="3573017"/>
            <a:ext cx="6277038" cy="3284983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DCF7BEC0-6D0A-4176-85B9-260D89AE02E7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5519936" y="1052736"/>
            <a:ext cx="6526329" cy="3422900"/>
          </a:xfrm>
          <a:prstGeom prst="rect">
            <a:avLst/>
          </a:prstGeom>
        </p:spPr>
      </p:pic>
      <p:sp>
        <p:nvSpPr>
          <p:cNvPr id="11" name="Tekstfelt 10">
            <a:extLst>
              <a:ext uri="{FF2B5EF4-FFF2-40B4-BE49-F238E27FC236}">
                <a16:creationId xmlns:a16="http://schemas.microsoft.com/office/drawing/2014/main" id="{2E813EEE-3944-44BA-AF1B-CAAE10161E70}"/>
              </a:ext>
            </a:extLst>
          </p:cNvPr>
          <p:cNvSpPr txBox="1"/>
          <p:nvPr/>
        </p:nvSpPr>
        <p:spPr>
          <a:xfrm>
            <a:off x="335360" y="188640"/>
            <a:ext cx="41690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6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Remember</a:t>
            </a:r>
            <a:r>
              <a:rPr kumimoji="0" lang="da-DK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24636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D59649-0B7C-4F85-B065-5D4F29D2C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 dirty="0"/>
              <a:t>The webpage</a:t>
            </a:r>
          </a:p>
        </p:txBody>
      </p:sp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70F14DF0-A673-395A-E55E-4DC8323E8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88646" cy="4351338"/>
          </a:xfrm>
        </p:spPr>
        <p:txBody>
          <a:bodyPr/>
          <a:lstStyle/>
          <a:p>
            <a:r>
              <a:rPr lang="en-US" dirty="0"/>
              <a:t>A web form for creating a user account</a:t>
            </a:r>
          </a:p>
          <a:p>
            <a:r>
              <a:rPr lang="en-US" dirty="0"/>
              <a:t>variety of personal and preference-related data</a:t>
            </a:r>
          </a:p>
          <a:p>
            <a:r>
              <a:rPr lang="en-US" dirty="0"/>
              <a:t>Usability, accessibility, and responsive design</a:t>
            </a:r>
            <a:endParaRPr lang="da-DK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6796B5F9-7AFB-78CA-F480-DCD898685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846" y="0"/>
            <a:ext cx="53651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101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AF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deal Minimum Requirements for Your Accounting Department - Wiss &amp;amp; Company,  LLP">
            <a:extLst>
              <a:ext uri="{FF2B5EF4-FFF2-40B4-BE49-F238E27FC236}">
                <a16:creationId xmlns:a16="http://schemas.microsoft.com/office/drawing/2014/main" id="{006FC866-D1F3-4F60-BC38-0CE09DF27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31" y="2506662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AE6AF1D-2F17-4318-B7BA-B178229C8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Minimum </a:t>
            </a:r>
            <a:r>
              <a:rPr lang="da-DK" dirty="0" err="1"/>
              <a:t>requirements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8164742-DA9E-430F-82CE-A42F89947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Check PDF to </a:t>
            </a:r>
            <a:r>
              <a:rPr lang="da-DK" dirty="0" err="1"/>
              <a:t>make</a:t>
            </a:r>
            <a:r>
              <a:rPr lang="da-DK" dirty="0"/>
              <a:t> sure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meet</a:t>
            </a:r>
            <a:r>
              <a:rPr lang="da-DK" dirty="0"/>
              <a:t> all the minimum </a:t>
            </a:r>
            <a:r>
              <a:rPr lang="da-DK" dirty="0" err="1"/>
              <a:t>requirements</a:t>
            </a:r>
            <a:r>
              <a:rPr lang="da-DK" dirty="0"/>
              <a:t> </a:t>
            </a:r>
            <a:r>
              <a:rPr lang="da-DK" dirty="0" err="1"/>
              <a:t>regarding</a:t>
            </a:r>
            <a:r>
              <a:rPr lang="da-DK" dirty="0"/>
              <a:t> content and </a:t>
            </a:r>
            <a:r>
              <a:rPr lang="da-DK" dirty="0" err="1"/>
              <a:t>functionality</a:t>
            </a:r>
            <a:r>
              <a:rPr lang="da-DK" dirty="0"/>
              <a:t> of </a:t>
            </a:r>
            <a:r>
              <a:rPr lang="da-DK" dirty="0" err="1"/>
              <a:t>your</a:t>
            </a:r>
            <a:r>
              <a:rPr lang="da-DK" dirty="0"/>
              <a:t> webpage</a:t>
            </a:r>
          </a:p>
        </p:txBody>
      </p:sp>
    </p:spTree>
    <p:extLst>
      <p:ext uri="{BB962C8B-B14F-4D97-AF65-F5344CB8AC3E}">
        <p14:creationId xmlns:p14="http://schemas.microsoft.com/office/powerpoint/2010/main" val="605153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5CE91E-4D2C-5EAC-23DF-D49FE00F2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10 </a:t>
            </a:r>
            <a:r>
              <a:rPr lang="da-DK" dirty="0" err="1"/>
              <a:t>usability</a:t>
            </a:r>
            <a:r>
              <a:rPr lang="da-DK" dirty="0"/>
              <a:t> </a:t>
            </a:r>
            <a:r>
              <a:rPr lang="da-DK" dirty="0" err="1"/>
              <a:t>heuristics</a:t>
            </a:r>
            <a:r>
              <a:rPr lang="da-DK" dirty="0"/>
              <a:t> for user interface design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0E44FE9-83E1-6FD4-4D65-2E2D976B5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50088" cy="4351338"/>
          </a:xfrm>
        </p:spPr>
        <p:txBody>
          <a:bodyPr/>
          <a:lstStyle/>
          <a:p>
            <a:endParaRPr lang="da-DK" dirty="0"/>
          </a:p>
          <a:p>
            <a:r>
              <a:rPr lang="da-DK" dirty="0" err="1"/>
              <a:t>Remember</a:t>
            </a:r>
            <a:r>
              <a:rPr lang="da-DK" dirty="0"/>
              <a:t> the definition and </a:t>
            </a:r>
            <a:r>
              <a:rPr lang="da-DK" dirty="0" err="1"/>
              <a:t>principles</a:t>
            </a:r>
            <a:r>
              <a:rPr lang="da-DK" dirty="0"/>
              <a:t> for </a:t>
            </a:r>
            <a:r>
              <a:rPr lang="da-DK" dirty="0" err="1"/>
              <a:t>usability</a:t>
            </a:r>
            <a:r>
              <a:rPr lang="da-DK" dirty="0"/>
              <a:t> and the factors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affect</a:t>
            </a:r>
            <a:r>
              <a:rPr lang="da-DK" dirty="0"/>
              <a:t> UX</a:t>
            </a:r>
          </a:p>
          <a:p>
            <a:endParaRPr lang="da-DK" dirty="0"/>
          </a:p>
          <a:p>
            <a:r>
              <a:rPr lang="da-DK" dirty="0"/>
              <a:t>10 </a:t>
            </a:r>
            <a:r>
              <a:rPr lang="da-DK" dirty="0" err="1"/>
              <a:t>usability</a:t>
            </a:r>
            <a:r>
              <a:rPr lang="da-DK" dirty="0"/>
              <a:t> </a:t>
            </a:r>
            <a:r>
              <a:rPr lang="da-DK" dirty="0" err="1"/>
              <a:t>heuristics</a:t>
            </a:r>
            <a:r>
              <a:rPr lang="da-DK" dirty="0"/>
              <a:t>:</a:t>
            </a:r>
          </a:p>
          <a:p>
            <a:pPr marL="0" indent="0">
              <a:buNone/>
            </a:pPr>
            <a:r>
              <a:rPr lang="da-DK" dirty="0">
                <a:hlinkClick r:id="rId2"/>
              </a:rPr>
              <a:t>https://www.nngroup.com/articles/ten-usability-heuristics/</a:t>
            </a:r>
            <a:r>
              <a:rPr lang="da-DK" dirty="0"/>
              <a:t>  </a:t>
            </a:r>
          </a:p>
        </p:txBody>
      </p:sp>
      <p:pic>
        <p:nvPicPr>
          <p:cNvPr id="4" name="Pladsholder til indhold 10" descr="Et billede, der indeholder Cd, tekst, cirkel, Datalagerenhed&#10;&#10;AI-genereret indhold kan være ukorrekt.">
            <a:extLst>
              <a:ext uri="{FF2B5EF4-FFF2-40B4-BE49-F238E27FC236}">
                <a16:creationId xmlns:a16="http://schemas.microsoft.com/office/drawing/2014/main" id="{A627F6B2-2CF1-C162-A8DE-CE6B987457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72" t="6630" r="17632" b="7267"/>
          <a:stretch>
            <a:fillRect/>
          </a:stretch>
        </p:blipFill>
        <p:spPr>
          <a:xfrm>
            <a:off x="8580683" y="788341"/>
            <a:ext cx="3400147" cy="3287007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2BA920B1-D2CB-011A-DDB0-D5C193EEE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105" y="4221088"/>
            <a:ext cx="2167302" cy="248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34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Think</a:t>
            </a:r>
            <a:r>
              <a:rPr lang="da-DK" dirty="0"/>
              <a:t> </a:t>
            </a:r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code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414" r="1135" b="19826"/>
          <a:stretch/>
        </p:blipFill>
        <p:spPr>
          <a:xfrm>
            <a:off x="1282083" y="1745064"/>
            <a:ext cx="9440091" cy="380050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8F0146-8C34-4AFD-A6D1-2E0E5DBE0A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17193" y="4653085"/>
            <a:ext cx="2301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https://balsamiq.com/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21494" y="5022417"/>
            <a:ext cx="3201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have a temporary license</a:t>
            </a:r>
          </a:p>
        </p:txBody>
      </p:sp>
    </p:spTree>
    <p:extLst>
      <p:ext uri="{BB962C8B-B14F-4D97-AF65-F5344CB8AC3E}">
        <p14:creationId xmlns:p14="http://schemas.microsoft.com/office/powerpoint/2010/main" val="145216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"/>
    </mc:Choice>
    <mc:Fallback xmlns="">
      <p:transition spd="slow" advTm="11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&lt;p </a:t>
            </a:r>
            <a:r>
              <a:rPr lang="en-US" b="1" dirty="0">
                <a:solidFill>
                  <a:srgbClr val="00B050"/>
                </a:solidFill>
              </a:rPr>
              <a:t>id</a:t>
            </a:r>
            <a:r>
              <a:rPr lang="en-US" b="1" dirty="0"/>
              <a:t>=</a:t>
            </a:r>
            <a:r>
              <a:rPr lang="en-US" b="1" dirty="0">
                <a:solidFill>
                  <a:srgbClr val="FFC000"/>
                </a:solidFill>
              </a:rPr>
              <a:t>"fun"</a:t>
            </a:r>
            <a:r>
              <a:rPr lang="en-US" b="1" dirty="0">
                <a:solidFill>
                  <a:srgbClr val="0070C0"/>
                </a:solidFill>
              </a:rPr>
              <a:t>&gt; </a:t>
            </a:r>
            <a:r>
              <a:rPr lang="en-US" b="1" dirty="0"/>
              <a:t>Have fun </a:t>
            </a:r>
            <a:r>
              <a:rPr lang="en-US" b="1" dirty="0">
                <a:solidFill>
                  <a:srgbClr val="FFC000"/>
                </a:solidFill>
              </a:rPr>
              <a:t>&amp;#9786; </a:t>
            </a:r>
            <a:r>
              <a:rPr lang="en-US" b="1" dirty="0">
                <a:solidFill>
                  <a:srgbClr val="0070C0"/>
                </a:solidFill>
              </a:rPr>
              <a:t>&lt;/p&gt;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Assignment1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8F0146-8C34-4AFD-A6D1-2E0E5DBE0A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3913351" y="1998363"/>
            <a:ext cx="4365298" cy="4258296"/>
            <a:chOff x="2464527" y="1380054"/>
            <a:chExt cx="4365298" cy="4258296"/>
          </a:xfrm>
        </p:grpSpPr>
        <p:sp>
          <p:nvSpPr>
            <p:cNvPr id="11" name="TextBox 10"/>
            <p:cNvSpPr txBox="1"/>
            <p:nvPr/>
          </p:nvSpPr>
          <p:spPr>
            <a:xfrm>
              <a:off x="2464527" y="1380054"/>
              <a:ext cx="43652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sng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Gill Sans Ultra Bold Condensed" panose="020B0A06020104020203" pitchFamily="34" charset="0"/>
                  <a:ea typeface="+mn-ea"/>
                  <a:cs typeface="+mn-cs"/>
                </a:rPr>
                <a:t>Programmers while coding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65120" y="2011676"/>
              <a:ext cx="33185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Bauhaus 93" panose="04030905020B02020C02" pitchFamily="82" charset="0"/>
                  <a:ea typeface="+mn-ea"/>
                  <a:cs typeface="+mn-cs"/>
                </a:rPr>
                <a:t>It doesn’t work…why?</a:t>
              </a:r>
            </a:p>
          </p:txBody>
        </p:sp>
        <p:pic>
          <p:nvPicPr>
            <p:cNvPr id="13" name="Content Placeholder 9"/>
            <p:cNvPicPr>
              <a:picLocks noChangeAspect="1"/>
            </p:cNvPicPr>
            <p:nvPr/>
          </p:nvPicPr>
          <p:blipFill rotWithShape="1">
            <a:blip r:embed="rId2"/>
            <a:srcRect l="4346" t="66642" r="2009" b="4947"/>
            <a:stretch/>
          </p:blipFill>
          <p:spPr>
            <a:xfrm>
              <a:off x="2464527" y="4314647"/>
              <a:ext cx="4362994" cy="1323703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865120" y="3879214"/>
              <a:ext cx="23374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Bauhaus 93" panose="04030905020B02020C02" pitchFamily="82" charset="0"/>
                  <a:ea typeface="+mn-ea"/>
                  <a:cs typeface="+mn-cs"/>
                </a:rPr>
                <a:t>It works…why?</a:t>
              </a:r>
            </a:p>
          </p:txBody>
        </p:sp>
        <p:pic>
          <p:nvPicPr>
            <p:cNvPr id="19" name="Content Placeholder 9"/>
            <p:cNvPicPr>
              <a:picLocks noChangeAspect="1"/>
            </p:cNvPicPr>
            <p:nvPr/>
          </p:nvPicPr>
          <p:blipFill rotWithShape="1">
            <a:blip r:embed="rId2"/>
            <a:srcRect l="4346" t="66642" r="2009" b="4947"/>
            <a:stretch/>
          </p:blipFill>
          <p:spPr>
            <a:xfrm>
              <a:off x="2464527" y="2460225"/>
              <a:ext cx="4362994" cy="13237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786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"/>
    </mc:Choice>
    <mc:Fallback xmlns="">
      <p:transition spd="slow" advTm="120"/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245</Words>
  <Application>Microsoft Office PowerPoint</Application>
  <PresentationFormat>Widescreen</PresentationFormat>
  <Paragraphs>50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Office-tema</vt:lpstr>
      <vt:lpstr>Office Theme</vt:lpstr>
      <vt:lpstr>Web Development 1</vt:lpstr>
      <vt:lpstr>Midterm evaluation</vt:lpstr>
      <vt:lpstr>Working on Assignment 2</vt:lpstr>
      <vt:lpstr>The rules</vt:lpstr>
      <vt:lpstr>PowerPoint Presentation</vt:lpstr>
      <vt:lpstr>The webpage</vt:lpstr>
      <vt:lpstr>Minimum requirements</vt:lpstr>
      <vt:lpstr>10 usability heuristics for user interface design</vt:lpstr>
      <vt:lpstr>Think before you code</vt:lpstr>
      <vt:lpstr>&lt;p id="fun"&gt; Have fun &amp;#9786; &lt;/p&gt;</vt:lpstr>
    </vt:vector>
  </TitlesOfParts>
  <Company>VIA University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Line Lindhardt Egsgaard (LILE) | VIA</dc:creator>
  <cp:lastModifiedBy>Line Lindhardt Egsgaard (LILE) | VIA</cp:lastModifiedBy>
  <cp:revision>3</cp:revision>
  <dcterms:created xsi:type="dcterms:W3CDTF">2025-10-20T08:19:27Z</dcterms:created>
  <dcterms:modified xsi:type="dcterms:W3CDTF">2025-10-22T19:56:53Z</dcterms:modified>
</cp:coreProperties>
</file>